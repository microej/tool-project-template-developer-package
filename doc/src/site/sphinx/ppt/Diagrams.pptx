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90" r:id="rId1"/>
  </p:sldMasterIdLst>
  <p:notesMasterIdLst>
    <p:notesMasterId r:id="rId4"/>
  </p:notesMasterIdLst>
  <p:handoutMasterIdLst>
    <p:handoutMasterId r:id="rId5"/>
  </p:handoutMasterIdLst>
  <p:sldIdLst>
    <p:sldId id="407" r:id="rId2"/>
    <p:sldId id="408" r:id="rId3"/>
  </p:sldIdLst>
  <p:sldSz cx="12192000" cy="6858000"/>
  <p:notesSz cx="6858000" cy="9144000"/>
  <p:embeddedFontLst>
    <p:embeddedFont>
      <p:font typeface="Source Sans Pro" panose="020B0503030403020204" pitchFamily="34" charset="0"/>
      <p:regular r:id="rId6"/>
      <p:bold r:id="rId7"/>
      <p:italic r:id="rId8"/>
      <p:boldItalic r:id="rId9"/>
    </p:embeddedFont>
    <p:embeddedFont>
      <p:font typeface="Source Sans Pro Black" panose="020B0803030403020204" pitchFamily="34" charset="0"/>
      <p:bold r:id="rId10"/>
      <p:italic r:id="rId11"/>
      <p:boldItalic r:id="rId12"/>
    </p:embeddedFont>
    <p:embeddedFont>
      <p:font typeface="Source Sans Pro ExtraLight" panose="020B0303030403020204" pitchFamily="34" charset="0"/>
      <p:regular r:id="rId13"/>
      <p:italic r:id="rId14"/>
    </p:embeddedFont>
    <p:embeddedFont>
      <p:font typeface="Source Sans Pro Light" panose="020B0403030403020204" pitchFamily="34" charset="0"/>
      <p:regular r:id="rId15"/>
      <p:italic r:id="rId16"/>
    </p:embeddedFont>
    <p:embeddedFont>
      <p:font typeface="Source Sans Pro SemiBold" panose="020B0603030403020204" pitchFamily="34" charset="0"/>
      <p:bold r:id="rId17"/>
      <p:boldItalic r:id="rId18"/>
    </p:embeddedFont>
    <p:embeddedFont>
      <p:font typeface="Source Sans Pro SemiBold" panose="020B0603030403020204" pitchFamily="34" charset="0"/>
      <p:bold r:id="rId17"/>
      <p:boldItalic r:id="rId18"/>
    </p:embeddedFont>
  </p:embeddedFont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20" userDrawn="1">
          <p15:clr>
            <a:srgbClr val="A4A3A4"/>
          </p15:clr>
        </p15:guide>
        <p15:guide id="2" pos="529" userDrawn="1">
          <p15:clr>
            <a:srgbClr val="A4A3A4"/>
          </p15:clr>
        </p15:guide>
        <p15:guide id="3" pos="7015" userDrawn="1">
          <p15:clr>
            <a:srgbClr val="A4A3A4"/>
          </p15:clr>
        </p15:guide>
        <p15:guide id="4" orient="horz" pos="43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4D7D9"/>
    <a:srgbClr val="F0B6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15" autoAdjust="0"/>
    <p:restoredTop sz="96897" autoAdjust="0"/>
  </p:normalViewPr>
  <p:slideViewPr>
    <p:cSldViewPr snapToGrid="0">
      <p:cViewPr varScale="1">
        <p:scale>
          <a:sx n="113" d="100"/>
          <a:sy n="113" d="100"/>
        </p:scale>
        <p:origin x="252" y="138"/>
      </p:cViewPr>
      <p:guideLst>
        <p:guide orient="horz" pos="4020"/>
        <p:guide pos="529"/>
        <p:guide pos="7015"/>
        <p:guide orient="horz" pos="436"/>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170" d="100"/>
          <a:sy n="170" d="100"/>
        </p:scale>
        <p:origin x="6584"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1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handoutMaster" Target="handoutMasters/handoutMaster1.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presProps" Target="presProps.xml"/><Relationship Id="rId4" Type="http://schemas.openxmlformats.org/officeDocument/2006/relationships/notesMaster" Target="notesMasters/notesMaster1.xml"/><Relationship Id="rId9" Type="http://schemas.openxmlformats.org/officeDocument/2006/relationships/font" Target="fonts/font4.fntdata"/><Relationship Id="rId14" Type="http://schemas.openxmlformats.org/officeDocument/2006/relationships/font" Target="fonts/font9.fntdata"/><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Calibri Regular"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8FA78A5-0A8C-BB4A-989B-613D7251D3B1}" type="datetime6">
              <a:rPr lang="fr-FR" smtClean="0">
                <a:latin typeface="Calibri Regular" charset="0"/>
              </a:rPr>
              <a:t>septembre 25</a:t>
            </a:fld>
            <a:endParaRPr lang="en-US" dirty="0">
              <a:latin typeface="Calibri Regular"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Calibri Regular"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1BCF83-E995-406B-90B7-34CBC7B459E2}" type="slidenum">
              <a:rPr lang="en-US" smtClean="0">
                <a:latin typeface="Calibri Regular" charset="0"/>
              </a:rPr>
              <a:t>‹#›</a:t>
            </a:fld>
            <a:endParaRPr lang="en-US" dirty="0">
              <a:latin typeface="Calibri Regular" charset="0"/>
            </a:endParaRPr>
          </a:p>
        </p:txBody>
      </p:sp>
    </p:spTree>
    <p:extLst>
      <p:ext uri="{BB962C8B-B14F-4D97-AF65-F5344CB8AC3E}">
        <p14:creationId xmlns:p14="http://schemas.microsoft.com/office/powerpoint/2010/main" val="150386224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Calibri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Calibri Regular" charset="0"/>
              </a:defRPr>
            </a:lvl1pPr>
          </a:lstStyle>
          <a:p>
            <a:fld id="{79958FA1-9FE8-F149-AB4B-7DC9950B39E9}" type="datetime6">
              <a:rPr lang="fr-FR" smtClean="0"/>
              <a:pPr/>
              <a:t>septembre 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Calibri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Calibri Regular" charset="0"/>
              </a:defRPr>
            </a:lvl1pPr>
          </a:lstStyle>
          <a:p>
            <a:fld id="{63D2F4DC-CE54-4109-8EF4-A6E1D0DA46F1}" type="slidenum">
              <a:rPr lang="en-US" smtClean="0"/>
              <a:pPr/>
              <a:t>‹#›</a:t>
            </a:fld>
            <a:endParaRPr lang="en-US" dirty="0"/>
          </a:p>
        </p:txBody>
      </p:sp>
    </p:spTree>
    <p:extLst>
      <p:ext uri="{BB962C8B-B14F-4D97-AF65-F5344CB8AC3E}">
        <p14:creationId xmlns:p14="http://schemas.microsoft.com/office/powerpoint/2010/main" val="2834552350"/>
      </p:ext>
    </p:extLst>
  </p:cSld>
  <p:clrMap bg1="lt1" tx1="dk1" bg2="lt2" tx2="dk2" accent1="accent1" accent2="accent2" accent3="accent3" accent4="accent4" accent5="accent5" accent6="accent6" hlink="hlink" folHlink="folHlink"/>
  <p:hf hdr="0" ftr="0"/>
  <p:notesStyle>
    <a:lvl1pPr marL="0" algn="l" defTabSz="914377" rtl="0" eaLnBrk="1" latinLnBrk="0" hangingPunct="1">
      <a:defRPr sz="1200" b="0" i="0" kern="1200">
        <a:solidFill>
          <a:schemeClr val="tx1"/>
        </a:solidFill>
        <a:latin typeface="Calibri Regular" charset="0"/>
        <a:ea typeface="+mn-ea"/>
        <a:cs typeface="+mn-cs"/>
      </a:defRPr>
    </a:lvl1pPr>
    <a:lvl2pPr marL="457189" algn="l" defTabSz="914377" rtl="0" eaLnBrk="1" latinLnBrk="0" hangingPunct="1">
      <a:defRPr sz="1200" b="0" i="0" kern="1200">
        <a:solidFill>
          <a:schemeClr val="tx1"/>
        </a:solidFill>
        <a:latin typeface="Calibri Regular" charset="0"/>
        <a:ea typeface="+mn-ea"/>
        <a:cs typeface="+mn-cs"/>
      </a:defRPr>
    </a:lvl2pPr>
    <a:lvl3pPr marL="914377" algn="l" defTabSz="914377" rtl="0" eaLnBrk="1" latinLnBrk="0" hangingPunct="1">
      <a:defRPr sz="1200" b="0" i="0" kern="1200">
        <a:solidFill>
          <a:schemeClr val="tx1"/>
        </a:solidFill>
        <a:latin typeface="Calibri Regular" charset="0"/>
        <a:ea typeface="+mn-ea"/>
        <a:cs typeface="+mn-cs"/>
      </a:defRPr>
    </a:lvl3pPr>
    <a:lvl4pPr marL="1371566" algn="l" defTabSz="914377" rtl="0" eaLnBrk="1" latinLnBrk="0" hangingPunct="1">
      <a:defRPr sz="1200" b="0" i="0" kern="1200">
        <a:solidFill>
          <a:schemeClr val="tx1"/>
        </a:solidFill>
        <a:latin typeface="Calibri Regular" charset="0"/>
        <a:ea typeface="+mn-ea"/>
        <a:cs typeface="+mn-cs"/>
      </a:defRPr>
    </a:lvl4pPr>
    <a:lvl5pPr marL="1828754" algn="l" defTabSz="914377" rtl="0" eaLnBrk="1" latinLnBrk="0" hangingPunct="1">
      <a:defRPr sz="1200" b="0" i="0" kern="1200">
        <a:solidFill>
          <a:schemeClr val="tx1"/>
        </a:solidFill>
        <a:latin typeface="Calibri Regular"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
    <p:spTree>
      <p:nvGrpSpPr>
        <p:cNvPr id="1" name=""/>
        <p:cNvGrpSpPr/>
        <p:nvPr/>
      </p:nvGrpSpPr>
      <p:grpSpPr>
        <a:xfrm>
          <a:off x="0" y="0"/>
          <a:ext cx="0" cy="0"/>
          <a:chOff x="0" y="0"/>
          <a:chExt cx="0" cy="0"/>
        </a:xfrm>
      </p:grpSpPr>
      <p:cxnSp>
        <p:nvCxnSpPr>
          <p:cNvPr id="5" name="Straight Connector 4"/>
          <p:cNvCxnSpPr/>
          <p:nvPr userDrawn="1"/>
        </p:nvCxnSpPr>
        <p:spPr>
          <a:xfrm>
            <a:off x="839416" y="1196752"/>
            <a:ext cx="979264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59D6CD0F-D4A8-C844-9E1F-D133F4C66600}"/>
              </a:ext>
            </a:extLst>
          </p:cNvPr>
          <p:cNvSpPr/>
          <p:nvPr userDrawn="1"/>
        </p:nvSpPr>
        <p:spPr>
          <a:xfrm>
            <a:off x="2037495" y="1412776"/>
            <a:ext cx="678241" cy="4945922"/>
          </a:xfrm>
          <a:prstGeom prst="roundRect">
            <a:avLst>
              <a:gd name="adj" fmla="val 17902"/>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2214B3D3-79A0-4446-921D-71FCA4925C1A}"/>
              </a:ext>
            </a:extLst>
          </p:cNvPr>
          <p:cNvSpPr/>
          <p:nvPr userDrawn="1"/>
        </p:nvSpPr>
        <p:spPr>
          <a:xfrm>
            <a:off x="4204005" y="1412776"/>
            <a:ext cx="678241" cy="4945922"/>
          </a:xfrm>
          <a:prstGeom prst="roundRect">
            <a:avLst>
              <a:gd name="adj" fmla="val 17902"/>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D89F8CF1-99DD-8B48-958F-38E7B79DAB12}"/>
              </a:ext>
            </a:extLst>
          </p:cNvPr>
          <p:cNvSpPr/>
          <p:nvPr userDrawn="1"/>
        </p:nvSpPr>
        <p:spPr>
          <a:xfrm>
            <a:off x="6255305" y="1412776"/>
            <a:ext cx="678241" cy="4945922"/>
          </a:xfrm>
          <a:prstGeom prst="roundRect">
            <a:avLst>
              <a:gd name="adj" fmla="val 17902"/>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F30E3533-61F2-9A43-87C6-9B4324DFF5C9}"/>
              </a:ext>
            </a:extLst>
          </p:cNvPr>
          <p:cNvSpPr/>
          <p:nvPr userDrawn="1"/>
        </p:nvSpPr>
        <p:spPr>
          <a:xfrm>
            <a:off x="8424625" y="1412776"/>
            <a:ext cx="678241" cy="4945922"/>
          </a:xfrm>
          <a:prstGeom prst="roundRect">
            <a:avLst>
              <a:gd name="adj" fmla="val 17902"/>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EB30A113-E578-7347-A679-11FF40E18031}"/>
              </a:ext>
            </a:extLst>
          </p:cNvPr>
          <p:cNvSpPr/>
          <p:nvPr userDrawn="1"/>
        </p:nvSpPr>
        <p:spPr>
          <a:xfrm>
            <a:off x="10458319" y="1412776"/>
            <a:ext cx="678241" cy="4945922"/>
          </a:xfrm>
          <a:prstGeom prst="roundRect">
            <a:avLst>
              <a:gd name="adj" fmla="val 17902"/>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419944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d Chapter / Title_subtitle">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aphic Chapter / Title_subtitle">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d Chapter / Title_Subtitle_Number">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d SubChapter / Title ">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cxnSp>
        <p:nvCxnSpPr>
          <p:cNvPr id="8" name="Straight Connector 7"/>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hf hdr="0" ftr="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 Column / Title_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
        <p:nvSpPr>
          <p:cNvPr id="11" name="Content Placeholder 3"/>
          <p:cNvSpPr>
            <a:spLocks noGrp="1"/>
          </p:cNvSpPr>
          <p:nvPr>
            <p:ph sz="half" idx="2" hasCustomPrompt="1"/>
          </p:nvPr>
        </p:nvSpPr>
        <p:spPr>
          <a:xfrm>
            <a:off x="550862" y="1710203"/>
            <a:ext cx="10129837" cy="433340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9" name="Straight Connector 8"/>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710206"/>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2286263"/>
            <a:ext cx="10129836" cy="375734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9"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0" name="Straight Connector 9"/>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710203"/>
            <a:ext cx="4999583" cy="433340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8" name="Content Placeholder 3"/>
          <p:cNvSpPr>
            <a:spLocks noGrp="1"/>
          </p:cNvSpPr>
          <p:nvPr>
            <p:ph sz="half" idx="12" hasCustomPrompt="1"/>
          </p:nvPr>
        </p:nvSpPr>
        <p:spPr>
          <a:xfrm>
            <a:off x="5681117" y="1710203"/>
            <a:ext cx="4999583" cy="433340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3"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4" name="Straight Connector 13"/>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 Columns / Title_Content">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700808"/>
            <a:ext cx="10129837" cy="4333409"/>
          </a:xfrm>
          <a:prstGeom prst="rect">
            <a:avLst/>
          </a:prstGeom>
        </p:spPr>
        <p:txBody>
          <a:bodyPr lIns="90000" numCol="2">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1"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2" name="Straight Connector 11"/>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Column / Title_Subtitle_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710206"/>
            <a:ext cx="499606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2286264"/>
            <a:ext cx="10129837" cy="3757348"/>
          </a:xfrm>
          <a:prstGeom prst="rect">
            <a:avLst/>
          </a:prstGeom>
        </p:spPr>
        <p:txBody>
          <a:bodyPr lIns="90000" numCol="2">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5"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Columns/ Title_Subtitle_Content, Comparison">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710206"/>
            <a:ext cx="499606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2286264"/>
            <a:ext cx="4999583" cy="3757348"/>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1" name="Text Placeholder 2"/>
          <p:cNvSpPr>
            <a:spLocks noGrp="1"/>
          </p:cNvSpPr>
          <p:nvPr>
            <p:ph type="body" idx="14" hasCustomPrompt="1"/>
          </p:nvPr>
        </p:nvSpPr>
        <p:spPr>
          <a:xfrm>
            <a:off x="5684632" y="1710206"/>
            <a:ext cx="499606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2286264"/>
            <a:ext cx="4999583" cy="3757348"/>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4"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5" name="Straight Connector 14"/>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Column / Title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710203"/>
            <a:ext cx="10129837" cy="4333409"/>
          </a:xfrm>
          <a:prstGeom prst="rect">
            <a:avLst/>
          </a:prstGeom>
        </p:spPr>
        <p:txBody>
          <a:bodyPr lIns="90000" numCol="3">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 name="TextBox 1"/>
          <p:cNvSpPr txBox="1"/>
          <p:nvPr/>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sp>
        <p:nvSpPr>
          <p:cNvPr id="6"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8" name="Straight Connector 7"/>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710206"/>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2286263"/>
            <a:ext cx="10129836" cy="3757349"/>
          </a:xfrm>
          <a:prstGeom prst="rect">
            <a:avLst/>
          </a:prstGeom>
        </p:spPr>
        <p:txBody>
          <a:bodyPr lIns="90000" numCol="3">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8"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9" name="Straight Connector 8"/>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s / Title, Subtitle,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710206"/>
            <a:ext cx="3007790"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2" name="Content Placeholder 3"/>
          <p:cNvSpPr>
            <a:spLocks noGrp="1"/>
          </p:cNvSpPr>
          <p:nvPr>
            <p:ph sz="half" idx="12" hasCustomPrompt="1"/>
          </p:nvPr>
        </p:nvSpPr>
        <p:spPr>
          <a:xfrm>
            <a:off x="4150863" y="2276872"/>
            <a:ext cx="3025257" cy="3766740"/>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4" name="Content Placeholder 3"/>
          <p:cNvSpPr>
            <a:spLocks noGrp="1"/>
          </p:cNvSpPr>
          <p:nvPr>
            <p:ph sz="half" idx="11" hasCustomPrompt="1"/>
          </p:nvPr>
        </p:nvSpPr>
        <p:spPr>
          <a:xfrm>
            <a:off x="551385" y="2286263"/>
            <a:ext cx="3007792" cy="3757349"/>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16" name="Text Placeholder 2"/>
          <p:cNvSpPr>
            <a:spLocks noGrp="1"/>
          </p:cNvSpPr>
          <p:nvPr>
            <p:ph type="body" idx="13" hasCustomPrompt="1"/>
          </p:nvPr>
        </p:nvSpPr>
        <p:spPr>
          <a:xfrm>
            <a:off x="4147113" y="1710206"/>
            <a:ext cx="3029007"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7" name="Content Placeholder 3"/>
          <p:cNvSpPr>
            <a:spLocks noGrp="1"/>
          </p:cNvSpPr>
          <p:nvPr>
            <p:ph sz="half" idx="14" hasCustomPrompt="1"/>
          </p:nvPr>
        </p:nvSpPr>
        <p:spPr>
          <a:xfrm>
            <a:off x="7680325" y="2276871"/>
            <a:ext cx="3000375" cy="3766741"/>
          </a:xfrm>
          <a:prstGeom prst="rect">
            <a:avLst/>
          </a:prstGeom>
        </p:spPr>
        <p:txBody>
          <a:bodyPr lIns="90000">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9" name="Text Placeholder 2"/>
          <p:cNvSpPr>
            <a:spLocks noGrp="1"/>
          </p:cNvSpPr>
          <p:nvPr>
            <p:ph type="body" idx="15" hasCustomPrompt="1"/>
          </p:nvPr>
        </p:nvSpPr>
        <p:spPr>
          <a:xfrm>
            <a:off x="7680325" y="1710206"/>
            <a:ext cx="3007219"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cxnSp>
        <p:nvCxnSpPr>
          <p:cNvPr id="13" name="Straight Connector 12"/>
          <p:cNvCxnSpPr/>
          <p:nvPr/>
        </p:nvCxnSpPr>
        <p:spPr>
          <a:xfrm>
            <a:off x="550863" y="1566197"/>
            <a:ext cx="1012983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ntroduce Page">
    <p:spTree>
      <p:nvGrpSpPr>
        <p:cNvPr id="1" name=""/>
        <p:cNvGrpSpPr/>
        <p:nvPr/>
      </p:nvGrpSpPr>
      <p:grpSpPr>
        <a:xfrm>
          <a:off x="0" y="0"/>
          <a:ext cx="0" cy="0"/>
          <a:chOff x="0" y="0"/>
          <a:chExt cx="0" cy="0"/>
        </a:xfrm>
      </p:grpSpPr>
      <p:cxnSp>
        <p:nvCxnSpPr>
          <p:cNvPr id="5" name="Straight Connector 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400" b="0" i="0">
                <a:latin typeface="Source Sans Pro" charset="0"/>
                <a:ea typeface="Source Sans Pro" charset="0"/>
                <a:cs typeface="Source Sans Pro" charset="0"/>
              </a:defRPr>
            </a:lvl1pPr>
            <a:lvl2pPr>
              <a:defRPr sz="1400" b="0" i="0">
                <a:latin typeface="Source Sans Pro" charset="0"/>
                <a:ea typeface="Source Sans Pro" charset="0"/>
                <a:cs typeface="Source Sans Pro" charset="0"/>
              </a:defRPr>
            </a:lvl2pPr>
            <a:lvl3pPr>
              <a:defRPr sz="14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Tree>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gal - Disclaimer">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en-US" sz="2400" dirty="0"/>
              <a:t>DISCLAIMER</a:t>
            </a:r>
          </a:p>
        </p:txBody>
      </p:sp>
      <p:sp>
        <p:nvSpPr>
          <p:cNvPr id="10" name="TextBox 9"/>
          <p:cNvSpPr txBox="1"/>
          <p:nvPr/>
        </p:nvSpPr>
        <p:spPr>
          <a:xfrm>
            <a:off x="1031082" y="2479536"/>
            <a:ext cx="10129837" cy="267765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proprietary under copyright Law of Industrial Smart Software Technology (IS2T S.A.) operating under the brand name </a:t>
            </a:r>
            <a:r>
              <a:rPr lang="en-US" sz="1400" b="0" i="0" spc="0" dirty="0" err="1">
                <a:ln>
                  <a:noFill/>
                </a:ln>
                <a:solidFill>
                  <a:schemeClr val="tx2"/>
                </a:solidFill>
                <a:latin typeface="Source Sans Pro Light" charset="0"/>
                <a:ea typeface="Source Sans Pro Light" charset="0"/>
                <a:cs typeface="Source Sans Pro Light" charset="0"/>
              </a:rPr>
              <a:t>MicroEJ</a:t>
            </a:r>
            <a:r>
              <a:rPr lang="en-US" sz="1400" b="0" i="0" spc="0" dirty="0">
                <a:ln>
                  <a:noFill/>
                </a:ln>
                <a:solidFill>
                  <a:schemeClr val="tx2"/>
                </a:solidFill>
                <a:latin typeface="Source Sans Pro Light" charset="0"/>
                <a:ea typeface="Source Sans Pro Light" charset="0"/>
                <a:cs typeface="Source Sans Pro Light" charset="0"/>
              </a:rPr>
              <a:t>®. Without written permission from IS2T S.A., copying or sending parts of the document or the entire document by any means to third parties is not permitted. Granted authorizations for using parts of the document or the entire document do not mean IS2T S.A. gives public full access rights.</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IS2T® and </a:t>
            </a:r>
            <a:r>
              <a:rPr lang="en-US" sz="1400" b="0" i="0" spc="0" dirty="0" err="1">
                <a:ln>
                  <a:noFill/>
                </a:ln>
                <a:solidFill>
                  <a:schemeClr val="tx2"/>
                </a:solidFill>
                <a:latin typeface="Source Sans Pro Light" charset="0"/>
                <a:ea typeface="Source Sans Pro Light" charset="0"/>
                <a:cs typeface="Source Sans Pro Light" charset="0"/>
              </a:rPr>
              <a:t>MicroEJ</a:t>
            </a:r>
            <a:r>
              <a:rPr lang="en-US" sz="1400" b="0" i="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spc="0" dirty="0" err="1">
                <a:ln>
                  <a:noFill/>
                </a:ln>
                <a:solidFill>
                  <a:schemeClr val="tx2"/>
                </a:solidFill>
                <a:latin typeface="Source Sans Pro Light" charset="0"/>
                <a:ea typeface="Source Sans Pro Light" charset="0"/>
                <a:cs typeface="Source Sans Pro Light" charset="0"/>
              </a:rPr>
              <a:t>Inc</a:t>
            </a:r>
            <a:r>
              <a:rPr lang="en-US" sz="1400" b="0" i="0" spc="0" dirty="0">
                <a:ln>
                  <a:noFill/>
                </a:ln>
                <a:solidFill>
                  <a:schemeClr val="tx2"/>
                </a:solidFill>
                <a:latin typeface="Source Sans Pro Light" charset="0"/>
                <a:ea typeface="Source Sans Pro Light" charset="0"/>
                <a:cs typeface="Source Sans Pro Light" charset="0"/>
              </a:rPr>
              <a:t>, in the United States and other Countries.</a:t>
            </a:r>
          </a:p>
          <a:p>
            <a:pPr algn="ctr">
              <a:spcBef>
                <a:spcPts val="0"/>
              </a:spcBef>
              <a:spcAft>
                <a:spcPts val="600"/>
              </a:spcAft>
            </a:pPr>
            <a:r>
              <a:rPr lang="en-US" sz="1400" b="0" i="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cxnSp>
        <p:nvCxnSpPr>
          <p:cNvPr id="11" name="Straight Connector 10"/>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sp>
        <p:nvSpPr>
          <p:cNvPr id="12" name="TextBox 11"/>
          <p:cNvSpPr txBox="1"/>
          <p:nvPr/>
        </p:nvSpPr>
        <p:spPr>
          <a:xfrm>
            <a:off x="1031082" y="2479536"/>
            <a:ext cx="10129837" cy="2677656"/>
          </a:xfrm>
          <a:prstGeom prst="rect">
            <a:avLst/>
          </a:prstGeom>
          <a:noFill/>
        </p:spPr>
        <p:txBody>
          <a:bodyPr vert="horz" wrap="square" lIns="0" tIns="0" rIns="0" bIns="0" numCol="1" spcCol="288000" rtlCol="0" anchor="t" anchorCtr="0">
            <a:spAutoFit/>
          </a:bodyPr>
          <a:lstStyle/>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(IS2T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IS2T S.A., copying or sending parts of the document or the entire document by any means to third parties is not permitted. Granted authorizations for using parts of the document or the entire document do not mean IS2T S.A. gives public full access rights.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END Slider">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2187326"/>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84481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B287629-04B0-6B49-8AA9-39A39249CDFC}"/>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10833643" y="476672"/>
            <a:ext cx="849459" cy="212365"/>
          </a:xfrm>
          <a:prstGeom prst="rect">
            <a:avLst/>
          </a:prstGeom>
        </p:spPr>
      </p:pic>
    </p:spTree>
    <p:extLst>
      <p:ext uri="{BB962C8B-B14F-4D97-AF65-F5344CB8AC3E}">
        <p14:creationId xmlns:p14="http://schemas.microsoft.com/office/powerpoint/2010/main" val="1563829539"/>
      </p:ext>
    </p:extLst>
  </p:cSld>
  <p:clrMap bg1="lt1" tx1="dk1" bg2="lt2" tx2="dk2" accent1="accent1" accent2="accent2" accent3="accent3" accent4="accent4" accent5="accent5" accent6="accent6" hlink="hlink" folHlink="folHlink"/>
  <p:sldLayoutIdLst>
    <p:sldLayoutId id="2147483731"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30"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07">
          <p15:clr>
            <a:srgbClr val="F26B43"/>
          </p15:clr>
        </p15:guide>
        <p15:guide id="2" pos="7333">
          <p15:clr>
            <a:srgbClr val="F26B43"/>
          </p15:clr>
        </p15:guide>
        <p15:guide id="3" pos="347">
          <p15:clr>
            <a:srgbClr val="F26B43"/>
          </p15:clr>
        </p15:guide>
        <p15:guide id="4" orient="horz" pos="406">
          <p15:clr>
            <a:srgbClr val="F26B43"/>
          </p15:clr>
        </p15:guide>
        <p15:guide id="5" orient="horz" pos="3916">
          <p15:clr>
            <a:srgbClr val="F26B43"/>
          </p15:clr>
        </p15:guide>
        <p15:guide id="6" pos="6834">
          <p15:clr>
            <a:srgbClr val="F26B43"/>
          </p15:clr>
        </p15:guide>
        <p15:guide id="7" pos="6728">
          <p15:clr>
            <a:srgbClr val="F26B43"/>
          </p15:clr>
        </p15:guide>
        <p15:guide id="8" pos="1292">
          <p15:clr>
            <a:srgbClr val="F26B43"/>
          </p15:clr>
        </p15:guide>
        <p15:guide id="9" pos="1044">
          <p15:clr>
            <a:srgbClr val="F26B43"/>
          </p15:clr>
        </p15:guide>
        <p15:guide id="10" pos="1990">
          <p15:clr>
            <a:srgbClr val="F26B43"/>
          </p15:clr>
        </p15:guide>
        <p15:guide id="11" pos="2242">
          <p15:clr>
            <a:srgbClr val="F26B43"/>
          </p15:clr>
        </p15:guide>
        <p15:guide id="12" pos="2938">
          <p15:clr>
            <a:srgbClr val="F26B43"/>
          </p15:clr>
        </p15:guide>
        <p15:guide id="13" pos="3190">
          <p15:clr>
            <a:srgbClr val="F26B43"/>
          </p15:clr>
        </p15:guide>
        <p15:guide id="14" pos="4138">
          <p15:clr>
            <a:srgbClr val="F26B43"/>
          </p15:clr>
        </p15:guide>
        <p15:guide id="15" pos="3885">
          <p15:clr>
            <a:srgbClr val="F26B43"/>
          </p15:clr>
        </p15:guide>
        <p15:guide id="16" pos="4838">
          <p15:clr>
            <a:srgbClr val="F26B43"/>
          </p15:clr>
        </p15:guide>
        <p15:guide id="17" pos="5084">
          <p15:clr>
            <a:srgbClr val="F26B43"/>
          </p15:clr>
        </p15:guide>
        <p15:guide id="18" pos="5784">
          <p15:clr>
            <a:srgbClr val="F26B43"/>
          </p15:clr>
        </p15:guide>
        <p15:guide id="19" pos="603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E1CE6-2CF2-3F1A-6EC5-12723F34FCAE}"/>
              </a:ext>
            </a:extLst>
          </p:cNvPr>
          <p:cNvSpPr>
            <a:spLocks noGrp="1"/>
          </p:cNvSpPr>
          <p:nvPr>
            <p:ph type="ctrTitle"/>
          </p:nvPr>
        </p:nvSpPr>
        <p:spPr/>
        <p:txBody>
          <a:bodyPr/>
          <a:lstStyle/>
          <a:p>
            <a:r>
              <a:rPr lang="en-US" dirty="0"/>
              <a:t>Framework diagrams</a:t>
            </a:r>
          </a:p>
        </p:txBody>
      </p:sp>
      <p:sp>
        <p:nvSpPr>
          <p:cNvPr id="3" name="Text Placeholder 2">
            <a:extLst>
              <a:ext uri="{FF2B5EF4-FFF2-40B4-BE49-F238E27FC236}">
                <a16:creationId xmlns:a16="http://schemas.microsoft.com/office/drawing/2014/main" id="{A10230D2-D30F-98B8-FD1B-A5C3FB59905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28621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2B96A89-6710-DA07-0F58-20769BD6875A}"/>
              </a:ext>
            </a:extLst>
          </p:cNvPr>
          <p:cNvSpPr/>
          <p:nvPr/>
        </p:nvSpPr>
        <p:spPr>
          <a:xfrm>
            <a:off x="9649152" y="314750"/>
            <a:ext cx="2429934" cy="55062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2"/>
              </a:solidFill>
              <a:latin typeface="Source Sans Pro Light" panose="020B0403030403020204" pitchFamily="34" charset="77"/>
              <a:ea typeface="Source Sans Pro" panose="020B0503030403020204" pitchFamily="34" charset="0"/>
            </a:endParaRPr>
          </a:p>
        </p:txBody>
      </p:sp>
      <p:sp>
        <p:nvSpPr>
          <p:cNvPr id="39" name="Rectangle 38">
            <a:extLst>
              <a:ext uri="{FF2B5EF4-FFF2-40B4-BE49-F238E27FC236}">
                <a16:creationId xmlns:a16="http://schemas.microsoft.com/office/drawing/2014/main" id="{BD419195-6EB5-3B2E-B584-CAFEBF231791}"/>
              </a:ext>
            </a:extLst>
          </p:cNvPr>
          <p:cNvSpPr/>
          <p:nvPr/>
        </p:nvSpPr>
        <p:spPr>
          <a:xfrm>
            <a:off x="9568156" y="6029966"/>
            <a:ext cx="2429934" cy="55062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2"/>
              </a:solidFill>
              <a:latin typeface="Source Sans Pro Light" panose="020B0403030403020204" pitchFamily="34" charset="77"/>
              <a:ea typeface="Source Sans Pro" panose="020B0503030403020204" pitchFamily="34" charset="0"/>
            </a:endParaRPr>
          </a:p>
        </p:txBody>
      </p:sp>
      <p:sp>
        <p:nvSpPr>
          <p:cNvPr id="21" name="Round Same Side Corner Rectangle 66">
            <a:extLst>
              <a:ext uri="{FF2B5EF4-FFF2-40B4-BE49-F238E27FC236}">
                <a16:creationId xmlns:a16="http://schemas.microsoft.com/office/drawing/2014/main" id="{58C7CE71-3F14-6B02-D52E-1188A5CCC967}"/>
              </a:ext>
            </a:extLst>
          </p:cNvPr>
          <p:cNvSpPr/>
          <p:nvPr/>
        </p:nvSpPr>
        <p:spPr>
          <a:xfrm rot="10800000">
            <a:off x="390503" y="1694210"/>
            <a:ext cx="2143511" cy="2879903"/>
          </a:xfrm>
          <a:prstGeom prst="round2SameRect">
            <a:avLst>
              <a:gd name="adj1" fmla="val 6895"/>
              <a:gd name="adj2" fmla="val 7705"/>
            </a:avLst>
          </a:prstGeom>
          <a:solidFill>
            <a:schemeClr val="accent1"/>
          </a:solidFill>
          <a:ln w="9525">
            <a:solidFill>
              <a:srgbClr val="EE50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01DFB7D-3805-4B28-5E6F-FED2DECA387C}"/>
              </a:ext>
            </a:extLst>
          </p:cNvPr>
          <p:cNvSpPr>
            <a:spLocks noGrp="1"/>
          </p:cNvSpPr>
          <p:nvPr>
            <p:ph type="title" idx="4294967295"/>
          </p:nvPr>
        </p:nvSpPr>
        <p:spPr>
          <a:xfrm>
            <a:off x="550334" y="-3659"/>
            <a:ext cx="8631238" cy="527537"/>
          </a:xfrm>
          <a:prstGeom prst="rect">
            <a:avLst/>
          </a:prstGeom>
        </p:spPr>
        <p:txBody>
          <a:bodyPr/>
          <a:lstStyle/>
          <a:p>
            <a:r>
              <a:rPr lang="en-US" dirty="0"/>
              <a:t>High-level Architecture Diagram</a:t>
            </a:r>
          </a:p>
        </p:txBody>
      </p:sp>
      <p:pic>
        <p:nvPicPr>
          <p:cNvPr id="23" name="Picture 22">
            <a:extLst>
              <a:ext uri="{FF2B5EF4-FFF2-40B4-BE49-F238E27FC236}">
                <a16:creationId xmlns:a16="http://schemas.microsoft.com/office/drawing/2014/main" id="{0F0FD864-206D-733A-0139-C72BF91AF2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55" y="4105650"/>
            <a:ext cx="2108220" cy="356055"/>
          </a:xfrm>
          <a:prstGeom prst="rect">
            <a:avLst/>
          </a:prstGeom>
        </p:spPr>
      </p:pic>
      <p:grpSp>
        <p:nvGrpSpPr>
          <p:cNvPr id="10" name="Group 9">
            <a:extLst>
              <a:ext uri="{FF2B5EF4-FFF2-40B4-BE49-F238E27FC236}">
                <a16:creationId xmlns:a16="http://schemas.microsoft.com/office/drawing/2014/main" id="{C0317DD4-1B49-57E2-199F-A3E758662D13}"/>
              </a:ext>
            </a:extLst>
          </p:cNvPr>
          <p:cNvGrpSpPr/>
          <p:nvPr/>
        </p:nvGrpSpPr>
        <p:grpSpPr>
          <a:xfrm>
            <a:off x="288395" y="6178888"/>
            <a:ext cx="2341513" cy="706103"/>
            <a:chOff x="4373242" y="4133261"/>
            <a:chExt cx="2341513" cy="706103"/>
          </a:xfrm>
        </p:grpSpPr>
        <p:sp>
          <p:nvSpPr>
            <p:cNvPr id="18" name="Arc 17">
              <a:extLst>
                <a:ext uri="{FF2B5EF4-FFF2-40B4-BE49-F238E27FC236}">
                  <a16:creationId xmlns:a16="http://schemas.microsoft.com/office/drawing/2014/main" id="{26B3FA22-9768-CD38-F7D5-CF42179EDD75}"/>
                </a:ext>
              </a:extLst>
            </p:cNvPr>
            <p:cNvSpPr/>
            <p:nvPr/>
          </p:nvSpPr>
          <p:spPr>
            <a:xfrm rot="16200000">
              <a:off x="4369519" y="4613694"/>
              <a:ext cx="229393" cy="221947"/>
            </a:xfrm>
            <a:prstGeom prst="arc">
              <a:avLst>
                <a:gd name="adj1" fmla="val 16200000"/>
                <a:gd name="adj2" fmla="val 21512081"/>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Arc 18">
              <a:extLst>
                <a:ext uri="{FF2B5EF4-FFF2-40B4-BE49-F238E27FC236}">
                  <a16:creationId xmlns:a16="http://schemas.microsoft.com/office/drawing/2014/main" id="{FD9699C3-B91E-562E-7152-0C89E94CD694}"/>
                </a:ext>
              </a:extLst>
            </p:cNvPr>
            <p:cNvSpPr/>
            <p:nvPr/>
          </p:nvSpPr>
          <p:spPr>
            <a:xfrm>
              <a:off x="6488226" y="4618439"/>
              <a:ext cx="226529" cy="213972"/>
            </a:xfrm>
            <a:prstGeom prst="arc">
              <a:avLst>
                <a:gd name="adj1" fmla="val 16200000"/>
                <a:gd name="adj2" fmla="val 21512081"/>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Snip Same Side Corner Rectangle 65">
              <a:extLst>
                <a:ext uri="{FF2B5EF4-FFF2-40B4-BE49-F238E27FC236}">
                  <a16:creationId xmlns:a16="http://schemas.microsoft.com/office/drawing/2014/main" id="{F373C3F0-51B8-0DCE-0708-76289C0C9BF5}"/>
                </a:ext>
              </a:extLst>
            </p:cNvPr>
            <p:cNvSpPr/>
            <p:nvPr/>
          </p:nvSpPr>
          <p:spPr>
            <a:xfrm>
              <a:off x="4469952" y="4133261"/>
              <a:ext cx="2142386" cy="606819"/>
            </a:xfrm>
            <a:prstGeom prst="snip2SameRect">
              <a:avLst>
                <a:gd name="adj1" fmla="val 15666"/>
                <a:gd name="adj2" fmla="val 0"/>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36000" rtlCol="0" anchor="ctr">
              <a:noAutofit/>
            </a:bodyPr>
            <a:lstStyle/>
            <a:p>
              <a:pPr algn="ctr">
                <a:lnSpc>
                  <a:spcPts val="1600"/>
                </a:lnSpc>
              </a:pPr>
              <a:r>
                <a:rPr lang="en-US" sz="1550" b="1" dirty="0">
                  <a:solidFill>
                    <a:schemeClr val="bg1"/>
                  </a:solidFill>
                  <a:effectLst>
                    <a:outerShdw blurRad="76200" dist="38100" dir="5400000" algn="t" rotWithShape="0">
                      <a:prstClr val="black">
                        <a:alpha val="70000"/>
                      </a:prstClr>
                    </a:outerShdw>
                  </a:effectLst>
                  <a:latin typeface="Source Sans Pro" charset="0"/>
                  <a:ea typeface="Source Sans Pro" charset="0"/>
                  <a:cs typeface="Source Sans Pro" charset="0"/>
                </a:rPr>
                <a:t>TARGET HARDWARE</a:t>
              </a:r>
              <a:endParaRPr lang="en-US" sz="1200" b="1" i="1" dirty="0">
                <a:solidFill>
                  <a:schemeClr val="bg1"/>
                </a:solidFill>
                <a:latin typeface="Source Sans Pro SemiBold" charset="0"/>
                <a:ea typeface="Source Sans Pro SemiBold" charset="0"/>
                <a:cs typeface="Source Sans Pro SemiBold" charset="0"/>
              </a:endParaRPr>
            </a:p>
          </p:txBody>
        </p:sp>
      </p:grpSp>
      <p:grpSp>
        <p:nvGrpSpPr>
          <p:cNvPr id="11" name="Group 10">
            <a:extLst>
              <a:ext uri="{FF2B5EF4-FFF2-40B4-BE49-F238E27FC236}">
                <a16:creationId xmlns:a16="http://schemas.microsoft.com/office/drawing/2014/main" id="{D81248B9-D2DB-CCC8-853E-477271B9288C}"/>
              </a:ext>
            </a:extLst>
          </p:cNvPr>
          <p:cNvGrpSpPr/>
          <p:nvPr/>
        </p:nvGrpSpPr>
        <p:grpSpPr>
          <a:xfrm>
            <a:off x="357478" y="4736812"/>
            <a:ext cx="2143754" cy="1349746"/>
            <a:chOff x="4785576" y="3398779"/>
            <a:chExt cx="2143754" cy="584395"/>
          </a:xfrm>
        </p:grpSpPr>
        <p:sp>
          <p:nvSpPr>
            <p:cNvPr id="14" name="Rounded Rectangle 59">
              <a:extLst>
                <a:ext uri="{FF2B5EF4-FFF2-40B4-BE49-F238E27FC236}">
                  <a16:creationId xmlns:a16="http://schemas.microsoft.com/office/drawing/2014/main" id="{D9047615-72EE-07C9-2E61-497E440F0EDF}"/>
                </a:ext>
              </a:extLst>
            </p:cNvPr>
            <p:cNvSpPr/>
            <p:nvPr/>
          </p:nvSpPr>
          <p:spPr>
            <a:xfrm>
              <a:off x="4785576" y="3398779"/>
              <a:ext cx="2143754" cy="584395"/>
            </a:xfrm>
            <a:prstGeom prst="roundRect">
              <a:avLst>
                <a:gd name="adj" fmla="val 14314"/>
              </a:avLst>
            </a:prstGeom>
            <a:solidFill>
              <a:schemeClr val="tx2"/>
            </a:solidFill>
            <a:ln w="12700">
              <a:noFill/>
            </a:ln>
            <a:effectLst/>
          </p:spPr>
          <p:style>
            <a:lnRef idx="2">
              <a:schemeClr val="dk1"/>
            </a:lnRef>
            <a:fillRef idx="1">
              <a:schemeClr val="lt1"/>
            </a:fillRef>
            <a:effectRef idx="0">
              <a:schemeClr val="dk1"/>
            </a:effectRef>
            <a:fontRef idx="minor">
              <a:schemeClr val="dk1"/>
            </a:fontRef>
          </p:style>
          <p:txBody>
            <a:bodyPr wrap="square" lIns="90000" tIns="36000" bIns="36000" rtlCol="0" anchor="ctr">
              <a:noAutofit/>
            </a:bodyPr>
            <a:lstStyle/>
            <a:p>
              <a:pPr algn="ctr"/>
              <a:endParaRPr lang="en-US" sz="1600" b="1" dirty="0">
                <a:solidFill>
                  <a:schemeClr val="bg1"/>
                </a:solidFill>
                <a:effectLst>
                  <a:outerShdw blurRad="76200" dist="38100" dir="5400000" algn="t" rotWithShape="0">
                    <a:prstClr val="black">
                      <a:alpha val="70000"/>
                    </a:prstClr>
                  </a:outerShdw>
                </a:effectLst>
                <a:latin typeface="Source Sans Pro" charset="0"/>
                <a:ea typeface="Source Sans Pro" charset="0"/>
                <a:cs typeface="Source Sans Pro" charset="0"/>
              </a:endParaRPr>
            </a:p>
          </p:txBody>
        </p:sp>
        <p:sp>
          <p:nvSpPr>
            <p:cNvPr id="15" name="TextBox 14">
              <a:extLst>
                <a:ext uri="{FF2B5EF4-FFF2-40B4-BE49-F238E27FC236}">
                  <a16:creationId xmlns:a16="http://schemas.microsoft.com/office/drawing/2014/main" id="{212F91DA-4C52-8A5E-3CB5-9C6D809AC14C}"/>
                </a:ext>
              </a:extLst>
            </p:cNvPr>
            <p:cNvSpPr txBox="1"/>
            <p:nvPr/>
          </p:nvSpPr>
          <p:spPr>
            <a:xfrm>
              <a:off x="5035919" y="3596417"/>
              <a:ext cx="1660804" cy="196337"/>
            </a:xfrm>
            <a:prstGeom prst="rect">
              <a:avLst/>
            </a:prstGeom>
            <a:noFill/>
            <a:ln>
              <a:noFill/>
            </a:ln>
          </p:spPr>
          <p:txBody>
            <a:bodyPr wrap="none" tIns="36000" bIns="36000" rtlCol="0">
              <a:noAutofit/>
            </a:bodyPr>
            <a:lstStyle/>
            <a:p>
              <a:pPr algn="ctr"/>
              <a:r>
                <a:rPr lang="en-US" sz="1600" b="1" dirty="0">
                  <a:solidFill>
                    <a:schemeClr val="bg1"/>
                  </a:solidFill>
                  <a:latin typeface="Source Sans Pro Semibold" charset="0"/>
                  <a:ea typeface="Source Sans Pro Semibold" charset="0"/>
                  <a:cs typeface="Source Sans Pro Semibold" charset="0"/>
                </a:rPr>
                <a:t>BSP</a:t>
              </a:r>
            </a:p>
          </p:txBody>
        </p:sp>
      </p:grpSp>
      <p:sp>
        <p:nvSpPr>
          <p:cNvPr id="30" name="Rounded Rectangle 58">
            <a:extLst>
              <a:ext uri="{FF2B5EF4-FFF2-40B4-BE49-F238E27FC236}">
                <a16:creationId xmlns:a16="http://schemas.microsoft.com/office/drawing/2014/main" id="{D99437BB-95A3-4F9A-5DEA-77998D3B28A1}"/>
              </a:ext>
            </a:extLst>
          </p:cNvPr>
          <p:cNvSpPr/>
          <p:nvPr/>
        </p:nvSpPr>
        <p:spPr>
          <a:xfrm>
            <a:off x="886677" y="882446"/>
            <a:ext cx="1385218" cy="405092"/>
          </a:xfrm>
          <a:prstGeom prst="roundRect">
            <a:avLst>
              <a:gd name="adj" fmla="val 12311"/>
            </a:avLst>
          </a:prstGeom>
          <a:solidFill>
            <a:schemeClr val="bg1"/>
          </a:solidFill>
          <a:ln w="12700">
            <a:solidFill>
              <a:schemeClr val="bg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36000" bIns="0" rtlCol="0" anchor="ctr"/>
          <a:lstStyle/>
          <a:p>
            <a:pPr algn="ctr">
              <a:lnSpc>
                <a:spcPts val="1600"/>
              </a:lnSpc>
              <a:spcBef>
                <a:spcPts val="100"/>
              </a:spcBef>
              <a:spcAft>
                <a:spcPts val="100"/>
              </a:spcAft>
            </a:pPr>
            <a:endParaRPr lang="en-US" sz="1100" dirty="0">
              <a:solidFill>
                <a:schemeClr val="tx1">
                  <a:lumMod val="60000"/>
                  <a:lumOff val="40000"/>
                </a:schemeClr>
              </a:solidFill>
              <a:latin typeface="Source Sans Pro" charset="0"/>
              <a:ea typeface="Source Sans Pro" charset="0"/>
              <a:cs typeface="Source Sans Pro" charset="0"/>
            </a:endParaRPr>
          </a:p>
        </p:txBody>
      </p:sp>
      <p:sp>
        <p:nvSpPr>
          <p:cNvPr id="29" name="Rounded Rectangle 58">
            <a:extLst>
              <a:ext uri="{FF2B5EF4-FFF2-40B4-BE49-F238E27FC236}">
                <a16:creationId xmlns:a16="http://schemas.microsoft.com/office/drawing/2014/main" id="{485BCB37-38A8-3BE3-5935-93987A017AD4}"/>
              </a:ext>
            </a:extLst>
          </p:cNvPr>
          <p:cNvSpPr/>
          <p:nvPr/>
        </p:nvSpPr>
        <p:spPr>
          <a:xfrm>
            <a:off x="778349" y="987487"/>
            <a:ext cx="1385218" cy="405092"/>
          </a:xfrm>
          <a:prstGeom prst="roundRect">
            <a:avLst>
              <a:gd name="adj" fmla="val 12311"/>
            </a:avLst>
          </a:prstGeom>
          <a:solidFill>
            <a:schemeClr val="bg1"/>
          </a:solidFill>
          <a:ln w="12700">
            <a:solidFill>
              <a:schemeClr val="bg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36000" bIns="0" rtlCol="0" anchor="ctr"/>
          <a:lstStyle/>
          <a:p>
            <a:pPr algn="ctr">
              <a:lnSpc>
                <a:spcPts val="1600"/>
              </a:lnSpc>
              <a:spcBef>
                <a:spcPts val="100"/>
              </a:spcBef>
              <a:spcAft>
                <a:spcPts val="100"/>
              </a:spcAft>
            </a:pPr>
            <a:endParaRPr lang="en-US" sz="1100" dirty="0">
              <a:solidFill>
                <a:schemeClr val="tx1">
                  <a:lumMod val="60000"/>
                  <a:lumOff val="40000"/>
                </a:schemeClr>
              </a:solidFill>
              <a:latin typeface="Source Sans Pro" charset="0"/>
              <a:ea typeface="Source Sans Pro" charset="0"/>
              <a:cs typeface="Source Sans Pro" charset="0"/>
            </a:endParaRPr>
          </a:p>
        </p:txBody>
      </p:sp>
      <p:sp>
        <p:nvSpPr>
          <p:cNvPr id="26" name="Rounded Rectangle 58">
            <a:extLst>
              <a:ext uri="{FF2B5EF4-FFF2-40B4-BE49-F238E27FC236}">
                <a16:creationId xmlns:a16="http://schemas.microsoft.com/office/drawing/2014/main" id="{4BB7C2BD-24DE-2966-FD51-75C927EB0385}"/>
              </a:ext>
            </a:extLst>
          </p:cNvPr>
          <p:cNvSpPr/>
          <p:nvPr/>
        </p:nvSpPr>
        <p:spPr>
          <a:xfrm>
            <a:off x="672181" y="1101347"/>
            <a:ext cx="1385218" cy="405092"/>
          </a:xfrm>
          <a:prstGeom prst="roundRect">
            <a:avLst>
              <a:gd name="adj" fmla="val 12311"/>
            </a:avLst>
          </a:prstGeom>
          <a:solidFill>
            <a:schemeClr val="bg1"/>
          </a:solidFill>
          <a:ln w="12700">
            <a:solidFill>
              <a:schemeClr val="bg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36000" bIns="0" rtlCol="0" anchor="ctr"/>
          <a:lstStyle/>
          <a:p>
            <a:pPr algn="ctr">
              <a:lnSpc>
                <a:spcPts val="1600"/>
              </a:lnSpc>
              <a:spcBef>
                <a:spcPts val="100"/>
              </a:spcBef>
              <a:spcAft>
                <a:spcPts val="100"/>
              </a:spcAft>
            </a:pPr>
            <a:r>
              <a:rPr lang="en-US" sz="1400" b="1" dirty="0">
                <a:solidFill>
                  <a:schemeClr val="tx1">
                    <a:lumMod val="60000"/>
                    <a:lumOff val="40000"/>
                  </a:schemeClr>
                </a:solidFill>
                <a:latin typeface="Source Sans Pro" charset="0"/>
                <a:ea typeface="Source Sans Pro" charset="0"/>
                <a:cs typeface="Source Sans Pro" charset="0"/>
              </a:rPr>
              <a:t>APPLICATIONS</a:t>
            </a:r>
            <a:endParaRPr lang="en-US" sz="1100" dirty="0">
              <a:solidFill>
                <a:schemeClr val="tx1">
                  <a:lumMod val="60000"/>
                  <a:lumOff val="40000"/>
                </a:schemeClr>
              </a:solidFill>
              <a:latin typeface="Source Sans Pro" charset="0"/>
              <a:ea typeface="Source Sans Pro" charset="0"/>
              <a:cs typeface="Source Sans Pro" charset="0"/>
            </a:endParaRPr>
          </a:p>
        </p:txBody>
      </p:sp>
      <p:sp>
        <p:nvSpPr>
          <p:cNvPr id="36" name="Rounded Rectangle 109">
            <a:extLst>
              <a:ext uri="{FF2B5EF4-FFF2-40B4-BE49-F238E27FC236}">
                <a16:creationId xmlns:a16="http://schemas.microsoft.com/office/drawing/2014/main" id="{443DEDFD-5F25-9EA1-CF5D-F79C0993FD08}"/>
              </a:ext>
            </a:extLst>
          </p:cNvPr>
          <p:cNvSpPr/>
          <p:nvPr/>
        </p:nvSpPr>
        <p:spPr>
          <a:xfrm>
            <a:off x="2751575" y="6160428"/>
            <a:ext cx="8915484" cy="630046"/>
          </a:xfrm>
          <a:prstGeom prst="roundRect">
            <a:avLst>
              <a:gd name="adj" fmla="val 17902"/>
            </a:avLst>
          </a:prstGeom>
          <a:solidFill>
            <a:schemeClr val="bg1"/>
          </a:solidFill>
          <a:ln w="127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2"/>
                </a:solidFill>
                <a:latin typeface="Source Sans Pro" charset="0"/>
                <a:ea typeface="Source Sans Pro" charset="0"/>
              </a:rPr>
              <a:t>HARDWARE</a:t>
            </a:r>
            <a:endParaRPr lang="en-US" dirty="0">
              <a:solidFill>
                <a:schemeClr val="tx1"/>
              </a:solidFill>
              <a:latin typeface="Source Sans Pro" panose="020B0503030403020204" pitchFamily="34" charset="0"/>
              <a:ea typeface="Source Sans Pro" panose="020B0503030403020204" pitchFamily="34" charset="0"/>
            </a:endParaRPr>
          </a:p>
        </p:txBody>
      </p:sp>
      <p:sp>
        <p:nvSpPr>
          <p:cNvPr id="37" name="Rounded Rectangle 109">
            <a:extLst>
              <a:ext uri="{FF2B5EF4-FFF2-40B4-BE49-F238E27FC236}">
                <a16:creationId xmlns:a16="http://schemas.microsoft.com/office/drawing/2014/main" id="{3D6734A1-400A-3013-7013-D6C84983A38E}"/>
              </a:ext>
            </a:extLst>
          </p:cNvPr>
          <p:cNvSpPr/>
          <p:nvPr/>
        </p:nvSpPr>
        <p:spPr>
          <a:xfrm>
            <a:off x="2751575" y="4760043"/>
            <a:ext cx="8915484" cy="1310658"/>
          </a:xfrm>
          <a:prstGeom prst="roundRect">
            <a:avLst>
              <a:gd name="adj" fmla="val 17902"/>
            </a:avLst>
          </a:prstGeom>
          <a:solidFill>
            <a:schemeClr val="bg1"/>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2"/>
                </a:solidFill>
                <a:latin typeface="Source Sans Pro" charset="0"/>
                <a:ea typeface="Source Sans Pro" charset="0"/>
              </a:rPr>
              <a:t>VEE PORT / BSP SAMPLE</a:t>
            </a:r>
            <a:endParaRPr lang="en-US" dirty="0">
              <a:solidFill>
                <a:schemeClr val="tx1"/>
              </a:solidFill>
              <a:latin typeface="Source Sans Pro" panose="020B0503030403020204" pitchFamily="34" charset="0"/>
              <a:ea typeface="Source Sans Pro" panose="020B0503030403020204" pitchFamily="34" charset="0"/>
            </a:endParaRPr>
          </a:p>
        </p:txBody>
      </p:sp>
      <p:sp>
        <p:nvSpPr>
          <p:cNvPr id="42" name="Rounded Rectangle 74">
            <a:extLst>
              <a:ext uri="{FF2B5EF4-FFF2-40B4-BE49-F238E27FC236}">
                <a16:creationId xmlns:a16="http://schemas.microsoft.com/office/drawing/2014/main" id="{5A8AB867-A35C-B78E-6721-BA85FAAF74E9}"/>
              </a:ext>
            </a:extLst>
          </p:cNvPr>
          <p:cNvSpPr/>
          <p:nvPr/>
        </p:nvSpPr>
        <p:spPr>
          <a:xfrm>
            <a:off x="2760133" y="937204"/>
            <a:ext cx="8906928" cy="630046"/>
          </a:xfrm>
          <a:prstGeom prst="roundRect">
            <a:avLst>
              <a:gd name="adj" fmla="val 15733"/>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2"/>
                </a:solidFill>
                <a:latin typeface="Source Sans Pro" charset="0"/>
                <a:ea typeface="Source Sans Pro" charset="0"/>
              </a:rPr>
              <a:t>APPLICATION SAMPLES</a:t>
            </a:r>
            <a:endParaRPr lang="en-US" dirty="0">
              <a:solidFill>
                <a:schemeClr val="tx1"/>
              </a:solidFill>
              <a:latin typeface="Source Sans Pro" panose="020B0503030403020204" pitchFamily="34" charset="0"/>
              <a:ea typeface="Source Sans Pro" panose="020B0503030403020204" pitchFamily="34" charset="0"/>
            </a:endParaRPr>
          </a:p>
        </p:txBody>
      </p:sp>
      <p:sp>
        <p:nvSpPr>
          <p:cNvPr id="43" name="Rounded Rectangle 74">
            <a:extLst>
              <a:ext uri="{FF2B5EF4-FFF2-40B4-BE49-F238E27FC236}">
                <a16:creationId xmlns:a16="http://schemas.microsoft.com/office/drawing/2014/main" id="{9B5206DE-B799-24F9-A224-092D2B4E7A9D}"/>
              </a:ext>
            </a:extLst>
          </p:cNvPr>
          <p:cNvSpPr/>
          <p:nvPr/>
        </p:nvSpPr>
        <p:spPr>
          <a:xfrm>
            <a:off x="2760131" y="1817722"/>
            <a:ext cx="8906928" cy="807847"/>
          </a:xfrm>
          <a:prstGeom prst="roundRect">
            <a:avLst>
              <a:gd name="adj" fmla="val 15733"/>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2"/>
                </a:solidFill>
                <a:latin typeface="Source Sans Pro" charset="0"/>
                <a:ea typeface="Source Sans Pro" charset="0"/>
              </a:rPr>
              <a:t>KERNEL SAMPLE</a:t>
            </a:r>
            <a:endParaRPr lang="en-US" dirty="0">
              <a:solidFill>
                <a:schemeClr val="tx1"/>
              </a:solidFill>
              <a:latin typeface="Source Sans Pro" panose="020B0503030403020204" pitchFamily="34" charset="0"/>
              <a:ea typeface="Source Sans Pro" panose="020B0503030403020204" pitchFamily="34" charset="0"/>
            </a:endParaRPr>
          </a:p>
        </p:txBody>
      </p:sp>
      <p:sp>
        <p:nvSpPr>
          <p:cNvPr id="44" name="Rounded Rectangle 74">
            <a:extLst>
              <a:ext uri="{FF2B5EF4-FFF2-40B4-BE49-F238E27FC236}">
                <a16:creationId xmlns:a16="http://schemas.microsoft.com/office/drawing/2014/main" id="{8628052C-3325-EFE0-FD1B-878BE8ADCC3C}"/>
              </a:ext>
            </a:extLst>
          </p:cNvPr>
          <p:cNvSpPr/>
          <p:nvPr/>
        </p:nvSpPr>
        <p:spPr>
          <a:xfrm>
            <a:off x="2760132" y="3627217"/>
            <a:ext cx="8906930" cy="961849"/>
          </a:xfrm>
          <a:prstGeom prst="roundRect">
            <a:avLst>
              <a:gd name="adj" fmla="val 15733"/>
            </a:avLst>
          </a:prstGeom>
          <a:solidFill>
            <a:schemeClr val="bg1"/>
          </a:solidFill>
          <a:ln w="12700">
            <a:solidFill>
              <a:srgbClr val="EE502E"/>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2"/>
                </a:solidFill>
                <a:latin typeface="Source Sans Pro" charset="0"/>
                <a:ea typeface="Source Sans Pro" charset="0"/>
              </a:rPr>
              <a:t>VEE</a:t>
            </a:r>
            <a:endParaRPr lang="en-US" dirty="0">
              <a:solidFill>
                <a:schemeClr val="tx1"/>
              </a:solidFill>
              <a:latin typeface="Source Sans Pro" panose="020B0503030403020204" pitchFamily="34" charset="0"/>
              <a:ea typeface="Source Sans Pro" panose="020B0503030403020204" pitchFamily="34" charset="0"/>
            </a:endParaRPr>
          </a:p>
        </p:txBody>
      </p:sp>
      <p:sp>
        <p:nvSpPr>
          <p:cNvPr id="3" name="Rounded Rectangle 58">
            <a:extLst>
              <a:ext uri="{FF2B5EF4-FFF2-40B4-BE49-F238E27FC236}">
                <a16:creationId xmlns:a16="http://schemas.microsoft.com/office/drawing/2014/main" id="{D2FEBE23-224C-4E37-1A5B-FEC997B112DC}"/>
              </a:ext>
            </a:extLst>
          </p:cNvPr>
          <p:cNvSpPr/>
          <p:nvPr/>
        </p:nvSpPr>
        <p:spPr>
          <a:xfrm>
            <a:off x="662415" y="1817723"/>
            <a:ext cx="1619246" cy="807846"/>
          </a:xfrm>
          <a:prstGeom prst="roundRect">
            <a:avLst>
              <a:gd name="adj" fmla="val 12311"/>
            </a:avLst>
          </a:prstGeom>
          <a:solidFill>
            <a:schemeClr val="bg1"/>
          </a:solidFill>
          <a:ln w="12700">
            <a:solidFill>
              <a:schemeClr val="bg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36000" bIns="0" rtlCol="0" anchor="ctr"/>
          <a:lstStyle/>
          <a:p>
            <a:pPr algn="ctr">
              <a:lnSpc>
                <a:spcPts val="1600"/>
              </a:lnSpc>
              <a:spcBef>
                <a:spcPts val="100"/>
              </a:spcBef>
              <a:spcAft>
                <a:spcPts val="100"/>
              </a:spcAft>
            </a:pPr>
            <a:r>
              <a:rPr lang="en-US" sz="1600" b="1" dirty="0">
                <a:solidFill>
                  <a:schemeClr val="tx1">
                    <a:lumMod val="60000"/>
                    <a:lumOff val="40000"/>
                  </a:schemeClr>
                </a:solidFill>
                <a:latin typeface="Source Sans Pro" charset="0"/>
                <a:ea typeface="Source Sans Pro" charset="0"/>
                <a:cs typeface="Source Sans Pro" charset="0"/>
              </a:rPr>
              <a:t>KERNEL</a:t>
            </a:r>
            <a:endParaRPr lang="en-US" sz="1200" dirty="0">
              <a:solidFill>
                <a:schemeClr val="tx1">
                  <a:lumMod val="60000"/>
                  <a:lumOff val="40000"/>
                </a:schemeClr>
              </a:solidFill>
              <a:latin typeface="Source Sans Pro" charset="0"/>
              <a:ea typeface="Source Sans Pro" charset="0"/>
              <a:cs typeface="Source Sans Pro" charset="0"/>
            </a:endParaRPr>
          </a:p>
        </p:txBody>
      </p:sp>
      <p:sp>
        <p:nvSpPr>
          <p:cNvPr id="4" name="Rounded Rectangle 58">
            <a:extLst>
              <a:ext uri="{FF2B5EF4-FFF2-40B4-BE49-F238E27FC236}">
                <a16:creationId xmlns:a16="http://schemas.microsoft.com/office/drawing/2014/main" id="{801F7638-371D-8379-49D1-A9DF2655A137}"/>
              </a:ext>
            </a:extLst>
          </p:cNvPr>
          <p:cNvSpPr/>
          <p:nvPr/>
        </p:nvSpPr>
        <p:spPr>
          <a:xfrm>
            <a:off x="662415" y="3627216"/>
            <a:ext cx="1619246" cy="422268"/>
          </a:xfrm>
          <a:prstGeom prst="roundRect">
            <a:avLst>
              <a:gd name="adj" fmla="val 12311"/>
            </a:avLst>
          </a:prstGeom>
          <a:solidFill>
            <a:schemeClr val="accent1">
              <a:lumMod val="75000"/>
            </a:schemeClr>
          </a:solidFill>
          <a:ln w="12700">
            <a:noFill/>
          </a:ln>
          <a:effectLst>
            <a:innerShdw blurRad="114300">
              <a:prstClr val="black">
                <a:alpha val="49000"/>
              </a:prstClr>
            </a:innerShdw>
          </a:effectLst>
        </p:spPr>
        <p:style>
          <a:lnRef idx="2">
            <a:schemeClr val="dk1"/>
          </a:lnRef>
          <a:fillRef idx="1">
            <a:schemeClr val="lt1"/>
          </a:fillRef>
          <a:effectRef idx="0">
            <a:schemeClr val="dk1"/>
          </a:effectRef>
          <a:fontRef idx="minor">
            <a:schemeClr val="dk1"/>
          </a:fontRef>
        </p:style>
        <p:txBody>
          <a:bodyPr wrap="square" lIns="36000" tIns="0" rIns="36000" bIns="0" rtlCol="0" anchor="ctr">
            <a:noAutofit/>
          </a:bodyPr>
          <a:lstStyle/>
          <a:p>
            <a:pPr algn="ctr">
              <a:lnSpc>
                <a:spcPct val="70000"/>
              </a:lnSpc>
            </a:pPr>
            <a:r>
              <a:rPr lang="en-US" sz="1600" b="1" dirty="0">
                <a:solidFill>
                  <a:schemeClr val="bg1"/>
                </a:solidFill>
                <a:latin typeface="Source Sans Pro" charset="0"/>
                <a:ea typeface="Source Sans Pro" charset="0"/>
              </a:rPr>
              <a:t>VEE LIBRARIES</a:t>
            </a:r>
          </a:p>
        </p:txBody>
      </p:sp>
      <p:sp>
        <p:nvSpPr>
          <p:cNvPr id="5" name="Rectangle 4">
            <a:extLst>
              <a:ext uri="{FF2B5EF4-FFF2-40B4-BE49-F238E27FC236}">
                <a16:creationId xmlns:a16="http://schemas.microsoft.com/office/drawing/2014/main" id="{D405E78E-D24D-5CC7-CFFC-0CA32B818887}"/>
              </a:ext>
            </a:extLst>
          </p:cNvPr>
          <p:cNvSpPr/>
          <p:nvPr/>
        </p:nvSpPr>
        <p:spPr>
          <a:xfrm>
            <a:off x="7560734" y="194733"/>
            <a:ext cx="3309430" cy="693503"/>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solidFill>
                <a:latin typeface="Source Sans Pro Light" panose="020B0403030403020204" pitchFamily="34" charset="77"/>
                <a:ea typeface="Source Sans Pro" panose="020B0503030403020204" pitchFamily="34" charset="0"/>
              </a:rPr>
              <a:t>LEGEND</a:t>
            </a:r>
            <a:endParaRPr lang="en-US" sz="1400" dirty="0">
              <a:solidFill>
                <a:schemeClr val="bg2"/>
              </a:solidFill>
              <a:latin typeface="Source Sans Pro Light" panose="020B0403030403020204" pitchFamily="34" charset="77"/>
              <a:ea typeface="Source Sans Pro" panose="020B0503030403020204" pitchFamily="34" charset="0"/>
            </a:endParaRPr>
          </a:p>
        </p:txBody>
      </p:sp>
      <p:sp>
        <p:nvSpPr>
          <p:cNvPr id="22" name="Rounded Rectangle 103">
            <a:extLst>
              <a:ext uri="{FF2B5EF4-FFF2-40B4-BE49-F238E27FC236}">
                <a16:creationId xmlns:a16="http://schemas.microsoft.com/office/drawing/2014/main" id="{587A157E-D950-85B2-E892-2648EC7D07CB}"/>
              </a:ext>
            </a:extLst>
          </p:cNvPr>
          <p:cNvSpPr/>
          <p:nvPr/>
        </p:nvSpPr>
        <p:spPr>
          <a:xfrm>
            <a:off x="7712879" y="446926"/>
            <a:ext cx="835346" cy="310896"/>
          </a:xfrm>
          <a:prstGeom prst="roundRect">
            <a:avLst>
              <a:gd name="adj" fmla="val 19644"/>
            </a:avLst>
          </a:prstGeom>
          <a:solidFill>
            <a:schemeClr val="accent4"/>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Available</a:t>
            </a:r>
          </a:p>
        </p:txBody>
      </p:sp>
      <p:sp>
        <p:nvSpPr>
          <p:cNvPr id="25" name="Rounded Rectangle 101">
            <a:extLst>
              <a:ext uri="{FF2B5EF4-FFF2-40B4-BE49-F238E27FC236}">
                <a16:creationId xmlns:a16="http://schemas.microsoft.com/office/drawing/2014/main" id="{4C71669A-5BB4-72B7-7AEF-A4728220D2C3}"/>
              </a:ext>
            </a:extLst>
          </p:cNvPr>
          <p:cNvSpPr/>
          <p:nvPr/>
        </p:nvSpPr>
        <p:spPr>
          <a:xfrm>
            <a:off x="8661660" y="442038"/>
            <a:ext cx="912828" cy="310896"/>
          </a:xfrm>
          <a:prstGeom prst="roundRect">
            <a:avLst>
              <a:gd name="adj" fmla="val 19644"/>
            </a:avLst>
          </a:prstGeom>
          <a:solidFill>
            <a:schemeClr val="accent2"/>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Soon available</a:t>
            </a:r>
          </a:p>
        </p:txBody>
      </p:sp>
      <p:sp>
        <p:nvSpPr>
          <p:cNvPr id="79" name="Rounded Rectangle 101">
            <a:extLst>
              <a:ext uri="{FF2B5EF4-FFF2-40B4-BE49-F238E27FC236}">
                <a16:creationId xmlns:a16="http://schemas.microsoft.com/office/drawing/2014/main" id="{BCE0E172-13AF-A6E9-08B9-F3D4975E3789}"/>
              </a:ext>
            </a:extLst>
          </p:cNvPr>
          <p:cNvSpPr/>
          <p:nvPr/>
        </p:nvSpPr>
        <p:spPr>
          <a:xfrm>
            <a:off x="9696893" y="440888"/>
            <a:ext cx="978522" cy="310896"/>
          </a:xfrm>
          <a:prstGeom prst="roundRect">
            <a:avLst>
              <a:gd name="adj" fmla="val 19644"/>
            </a:avLst>
          </a:prstGeom>
          <a:solidFill>
            <a:schemeClr val="tx1"/>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Not provided by </a:t>
            </a:r>
            <a:r>
              <a:rPr lang="en-US" sz="1050" dirty="0" err="1">
                <a:solidFill>
                  <a:schemeClr val="bg1"/>
                </a:solidFill>
                <a:latin typeface="Source Sans Pro" panose="020B0503030403020204" pitchFamily="34" charset="0"/>
                <a:ea typeface="Source Sans Pro" panose="020B0503030403020204" pitchFamily="34" charset="0"/>
                <a:cs typeface="Source Sans Pro Light" charset="0"/>
              </a:rPr>
              <a:t>MicroEJ</a:t>
            </a:r>
            <a:endParaRPr lang="en-US" sz="1050" dirty="0">
              <a:solidFill>
                <a:schemeClr val="bg1"/>
              </a:solidFill>
              <a:latin typeface="Source Sans Pro" panose="020B0503030403020204" pitchFamily="34" charset="0"/>
              <a:ea typeface="Source Sans Pro" panose="020B0503030403020204" pitchFamily="34" charset="0"/>
              <a:cs typeface="Source Sans Pro Light" charset="0"/>
            </a:endParaRPr>
          </a:p>
        </p:txBody>
      </p:sp>
      <p:cxnSp>
        <p:nvCxnSpPr>
          <p:cNvPr id="82" name="Straight Connector 81">
            <a:extLst>
              <a:ext uri="{FF2B5EF4-FFF2-40B4-BE49-F238E27FC236}">
                <a16:creationId xmlns:a16="http://schemas.microsoft.com/office/drawing/2014/main" id="{EF472431-E2B1-3987-BD7B-DD16695731E1}"/>
              </a:ext>
            </a:extLst>
          </p:cNvPr>
          <p:cNvCxnSpPr>
            <a:cxnSpLocks/>
          </p:cNvCxnSpPr>
          <p:nvPr/>
        </p:nvCxnSpPr>
        <p:spPr>
          <a:xfrm>
            <a:off x="288395" y="4645510"/>
            <a:ext cx="11353271"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1B7E254-0FAB-031E-A09D-4CC925BB42E4}"/>
              </a:ext>
            </a:extLst>
          </p:cNvPr>
          <p:cNvCxnSpPr>
            <a:cxnSpLocks/>
          </p:cNvCxnSpPr>
          <p:nvPr/>
        </p:nvCxnSpPr>
        <p:spPr>
          <a:xfrm>
            <a:off x="288395" y="1653488"/>
            <a:ext cx="11356378"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84" name="Rounded Rectangle 58">
            <a:extLst>
              <a:ext uri="{FF2B5EF4-FFF2-40B4-BE49-F238E27FC236}">
                <a16:creationId xmlns:a16="http://schemas.microsoft.com/office/drawing/2014/main" id="{1119BF39-4B6D-1FD6-28FE-9715F048BF82}"/>
              </a:ext>
            </a:extLst>
          </p:cNvPr>
          <p:cNvSpPr/>
          <p:nvPr/>
        </p:nvSpPr>
        <p:spPr>
          <a:xfrm>
            <a:off x="672181" y="2763834"/>
            <a:ext cx="1619246" cy="748850"/>
          </a:xfrm>
          <a:prstGeom prst="roundRect">
            <a:avLst>
              <a:gd name="adj" fmla="val 12311"/>
            </a:avLst>
          </a:prstGeom>
          <a:solidFill>
            <a:schemeClr val="accent1">
              <a:lumMod val="75000"/>
            </a:schemeClr>
          </a:solidFill>
          <a:ln w="12700">
            <a:noFill/>
          </a:ln>
          <a:effectLst>
            <a:innerShdw blurRad="114300">
              <a:prstClr val="black">
                <a:alpha val="49000"/>
              </a:prstClr>
            </a:innerShdw>
          </a:effectLst>
        </p:spPr>
        <p:style>
          <a:lnRef idx="2">
            <a:schemeClr val="dk1"/>
          </a:lnRef>
          <a:fillRef idx="1">
            <a:schemeClr val="lt1"/>
          </a:fillRef>
          <a:effectRef idx="0">
            <a:schemeClr val="dk1"/>
          </a:effectRef>
          <a:fontRef idx="minor">
            <a:schemeClr val="dk1"/>
          </a:fontRef>
        </p:style>
        <p:txBody>
          <a:bodyPr wrap="square" lIns="36000" tIns="0" rIns="36000" bIns="0" rtlCol="0" anchor="ctr">
            <a:noAutofit/>
          </a:bodyPr>
          <a:lstStyle/>
          <a:p>
            <a:pPr algn="ctr">
              <a:lnSpc>
                <a:spcPct val="70000"/>
              </a:lnSpc>
            </a:pPr>
            <a:r>
              <a:rPr lang="en-US" sz="1600" b="1" dirty="0">
                <a:solidFill>
                  <a:schemeClr val="bg1"/>
                </a:solidFill>
                <a:latin typeface="Source Sans Pro" charset="0"/>
                <a:ea typeface="Source Sans Pro" charset="0"/>
              </a:rPr>
              <a:t>VEE WEAR LIBRARIES</a:t>
            </a:r>
          </a:p>
        </p:txBody>
      </p:sp>
      <p:sp>
        <p:nvSpPr>
          <p:cNvPr id="85" name="Rounded Rectangle 74">
            <a:extLst>
              <a:ext uri="{FF2B5EF4-FFF2-40B4-BE49-F238E27FC236}">
                <a16:creationId xmlns:a16="http://schemas.microsoft.com/office/drawing/2014/main" id="{884D8432-57A7-3690-AC2B-517A14884D51}"/>
              </a:ext>
            </a:extLst>
          </p:cNvPr>
          <p:cNvSpPr/>
          <p:nvPr/>
        </p:nvSpPr>
        <p:spPr>
          <a:xfrm>
            <a:off x="2760131" y="2713441"/>
            <a:ext cx="8906930" cy="818335"/>
          </a:xfrm>
          <a:prstGeom prst="roundRect">
            <a:avLst>
              <a:gd name="adj" fmla="val 15733"/>
            </a:avLst>
          </a:prstGeom>
          <a:solidFill>
            <a:schemeClr val="bg1"/>
          </a:solidFill>
          <a:ln w="12700">
            <a:solidFill>
              <a:srgbClr val="EE502E"/>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200" dirty="0">
                <a:solidFill>
                  <a:schemeClr val="tx2"/>
                </a:solidFill>
                <a:latin typeface="Source Sans Pro" charset="0"/>
                <a:ea typeface="Source Sans Pro" charset="0"/>
              </a:rPr>
              <a:t>VEE WEAR LIBRARIES</a:t>
            </a:r>
            <a:endParaRPr lang="en-US" dirty="0">
              <a:solidFill>
                <a:schemeClr val="tx1"/>
              </a:solidFill>
              <a:latin typeface="Source Sans Pro" panose="020B0503030403020204" pitchFamily="34" charset="0"/>
              <a:ea typeface="Source Sans Pro" panose="020B0503030403020204" pitchFamily="34" charset="0"/>
            </a:endParaRPr>
          </a:p>
        </p:txBody>
      </p:sp>
      <p:sp>
        <p:nvSpPr>
          <p:cNvPr id="92" name="Rounded Rectangle 101">
            <a:extLst>
              <a:ext uri="{FF2B5EF4-FFF2-40B4-BE49-F238E27FC236}">
                <a16:creationId xmlns:a16="http://schemas.microsoft.com/office/drawing/2014/main" id="{4C88F42D-CB85-09A5-06D9-AEB5F6152880}"/>
              </a:ext>
            </a:extLst>
          </p:cNvPr>
          <p:cNvSpPr/>
          <p:nvPr/>
        </p:nvSpPr>
        <p:spPr>
          <a:xfrm>
            <a:off x="2932065" y="5739725"/>
            <a:ext cx="8574135" cy="245195"/>
          </a:xfrm>
          <a:prstGeom prst="roundRect">
            <a:avLst>
              <a:gd name="adj" fmla="val 19644"/>
            </a:avLst>
          </a:prstGeom>
          <a:solidFill>
            <a:schemeClr val="tx1"/>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rPr>
              <a:t>RTOS</a:t>
            </a:r>
          </a:p>
        </p:txBody>
      </p:sp>
      <p:sp>
        <p:nvSpPr>
          <p:cNvPr id="93" name="Rounded Rectangle 101">
            <a:extLst>
              <a:ext uri="{FF2B5EF4-FFF2-40B4-BE49-F238E27FC236}">
                <a16:creationId xmlns:a16="http://schemas.microsoft.com/office/drawing/2014/main" id="{B72D54C5-56EF-7A85-6D20-32ACA2E4C72E}"/>
              </a:ext>
            </a:extLst>
          </p:cNvPr>
          <p:cNvSpPr/>
          <p:nvPr/>
        </p:nvSpPr>
        <p:spPr>
          <a:xfrm>
            <a:off x="2941396" y="5050746"/>
            <a:ext cx="8564804" cy="245195"/>
          </a:xfrm>
          <a:prstGeom prst="roundRect">
            <a:avLst>
              <a:gd name="adj" fmla="val 19644"/>
            </a:avLst>
          </a:prstGeom>
          <a:solidFill>
            <a:schemeClr val="accent4"/>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rPr>
              <a:t>VEE Abstraction layers</a:t>
            </a:r>
          </a:p>
        </p:txBody>
      </p:sp>
      <p:sp>
        <p:nvSpPr>
          <p:cNvPr id="12" name="Rounded Rectangle 101">
            <a:extLst>
              <a:ext uri="{FF2B5EF4-FFF2-40B4-BE49-F238E27FC236}">
                <a16:creationId xmlns:a16="http://schemas.microsoft.com/office/drawing/2014/main" id="{FFED3E2C-0E76-C820-C814-5593AC6B6BA8}"/>
              </a:ext>
            </a:extLst>
          </p:cNvPr>
          <p:cNvSpPr/>
          <p:nvPr/>
        </p:nvSpPr>
        <p:spPr>
          <a:xfrm>
            <a:off x="2941396" y="5377986"/>
            <a:ext cx="978522" cy="310896"/>
          </a:xfrm>
          <a:prstGeom prst="roundRect">
            <a:avLst>
              <a:gd name="adj" fmla="val 19644"/>
            </a:avLst>
          </a:prstGeom>
          <a:solidFill>
            <a:schemeClr val="tx1"/>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Drivers</a:t>
            </a:r>
          </a:p>
        </p:txBody>
      </p:sp>
      <p:sp>
        <p:nvSpPr>
          <p:cNvPr id="13" name="Rounded Rectangle 101">
            <a:extLst>
              <a:ext uri="{FF2B5EF4-FFF2-40B4-BE49-F238E27FC236}">
                <a16:creationId xmlns:a16="http://schemas.microsoft.com/office/drawing/2014/main" id="{A2706963-A0D8-E537-D829-3F4D4AD4B403}"/>
              </a:ext>
            </a:extLst>
          </p:cNvPr>
          <p:cNvSpPr/>
          <p:nvPr/>
        </p:nvSpPr>
        <p:spPr>
          <a:xfrm>
            <a:off x="2941396" y="6310162"/>
            <a:ext cx="978522" cy="310896"/>
          </a:xfrm>
          <a:prstGeom prst="roundRect">
            <a:avLst>
              <a:gd name="adj" fmla="val 19644"/>
            </a:avLst>
          </a:prstGeom>
          <a:solidFill>
            <a:schemeClr val="tx1"/>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CPU / GPU</a:t>
            </a:r>
          </a:p>
        </p:txBody>
      </p:sp>
      <p:sp>
        <p:nvSpPr>
          <p:cNvPr id="16" name="Rounded Rectangle 101">
            <a:extLst>
              <a:ext uri="{FF2B5EF4-FFF2-40B4-BE49-F238E27FC236}">
                <a16:creationId xmlns:a16="http://schemas.microsoft.com/office/drawing/2014/main" id="{455489F7-11E5-0F0A-C213-F4C109017760}"/>
              </a:ext>
            </a:extLst>
          </p:cNvPr>
          <p:cNvSpPr/>
          <p:nvPr/>
        </p:nvSpPr>
        <p:spPr>
          <a:xfrm>
            <a:off x="4014155" y="6310162"/>
            <a:ext cx="978522" cy="310896"/>
          </a:xfrm>
          <a:prstGeom prst="roundRect">
            <a:avLst>
              <a:gd name="adj" fmla="val 19644"/>
            </a:avLst>
          </a:prstGeom>
          <a:solidFill>
            <a:schemeClr val="tx1"/>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Sensors</a:t>
            </a:r>
          </a:p>
        </p:txBody>
      </p:sp>
      <p:sp>
        <p:nvSpPr>
          <p:cNvPr id="40" name="Rounded Rectangle 103">
            <a:extLst>
              <a:ext uri="{FF2B5EF4-FFF2-40B4-BE49-F238E27FC236}">
                <a16:creationId xmlns:a16="http://schemas.microsoft.com/office/drawing/2014/main" id="{2E3A1D49-AE26-CCE5-8566-202DED86DC06}"/>
              </a:ext>
            </a:extLst>
          </p:cNvPr>
          <p:cNvSpPr/>
          <p:nvPr/>
        </p:nvSpPr>
        <p:spPr>
          <a:xfrm>
            <a:off x="2932067" y="4149604"/>
            <a:ext cx="914400" cy="310896"/>
          </a:xfrm>
          <a:prstGeom prst="roundRect">
            <a:avLst>
              <a:gd name="adj" fmla="val 19644"/>
            </a:avLst>
          </a:prstGeom>
          <a:solidFill>
            <a:schemeClr val="accent4"/>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Library</a:t>
            </a:r>
          </a:p>
        </p:txBody>
      </p:sp>
      <p:sp>
        <p:nvSpPr>
          <p:cNvPr id="41" name="Rounded Rectangle 103">
            <a:extLst>
              <a:ext uri="{FF2B5EF4-FFF2-40B4-BE49-F238E27FC236}">
                <a16:creationId xmlns:a16="http://schemas.microsoft.com/office/drawing/2014/main" id="{5DBCE4F1-D406-DA4C-5725-FCC104A87E24}"/>
              </a:ext>
            </a:extLst>
          </p:cNvPr>
          <p:cNvSpPr/>
          <p:nvPr/>
        </p:nvSpPr>
        <p:spPr>
          <a:xfrm>
            <a:off x="2932067" y="3125175"/>
            <a:ext cx="914400" cy="310896"/>
          </a:xfrm>
          <a:prstGeom prst="roundRect">
            <a:avLst>
              <a:gd name="adj" fmla="val 19644"/>
            </a:avLst>
          </a:prstGeom>
          <a:solidFill>
            <a:schemeClr val="accent4"/>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Library</a:t>
            </a:r>
          </a:p>
        </p:txBody>
      </p:sp>
      <p:sp>
        <p:nvSpPr>
          <p:cNvPr id="48" name="Rounded Rectangle 103">
            <a:extLst>
              <a:ext uri="{FF2B5EF4-FFF2-40B4-BE49-F238E27FC236}">
                <a16:creationId xmlns:a16="http://schemas.microsoft.com/office/drawing/2014/main" id="{82968D0C-2C12-BD12-BF90-4F5661D6CAD8}"/>
              </a:ext>
            </a:extLst>
          </p:cNvPr>
          <p:cNvSpPr/>
          <p:nvPr/>
        </p:nvSpPr>
        <p:spPr>
          <a:xfrm>
            <a:off x="2932065" y="2191376"/>
            <a:ext cx="914400" cy="310896"/>
          </a:xfrm>
          <a:prstGeom prst="roundRect">
            <a:avLst>
              <a:gd name="adj" fmla="val 19644"/>
            </a:avLst>
          </a:prstGeom>
          <a:solidFill>
            <a:schemeClr val="accent4"/>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Service</a:t>
            </a:r>
          </a:p>
        </p:txBody>
      </p:sp>
      <p:sp>
        <p:nvSpPr>
          <p:cNvPr id="65" name="Rounded Rectangle 103">
            <a:extLst>
              <a:ext uri="{FF2B5EF4-FFF2-40B4-BE49-F238E27FC236}">
                <a16:creationId xmlns:a16="http://schemas.microsoft.com/office/drawing/2014/main" id="{7252EA63-0014-AE9F-D8ED-A0353C04733A}"/>
              </a:ext>
            </a:extLst>
          </p:cNvPr>
          <p:cNvSpPr/>
          <p:nvPr/>
        </p:nvSpPr>
        <p:spPr>
          <a:xfrm>
            <a:off x="2932065" y="1135118"/>
            <a:ext cx="914400" cy="310896"/>
          </a:xfrm>
          <a:prstGeom prst="roundRect">
            <a:avLst>
              <a:gd name="adj" fmla="val 19644"/>
            </a:avLst>
          </a:prstGeom>
          <a:solidFill>
            <a:schemeClr val="accent4"/>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oAutofit/>
          </a:bodyPr>
          <a:lstStyle/>
          <a:p>
            <a:pPr algn="ctr"/>
            <a:r>
              <a:rPr lang="en-US" sz="1050" dirty="0">
                <a:solidFill>
                  <a:schemeClr val="bg1"/>
                </a:solidFill>
                <a:latin typeface="Source Sans Pro" panose="020B0503030403020204" pitchFamily="34" charset="0"/>
                <a:ea typeface="Source Sans Pro" panose="020B0503030403020204" pitchFamily="34" charset="0"/>
                <a:cs typeface="Source Sans Pro Light" charset="0"/>
              </a:rPr>
              <a:t>Sample</a:t>
            </a:r>
          </a:p>
        </p:txBody>
      </p:sp>
    </p:spTree>
    <p:extLst>
      <p:ext uri="{BB962C8B-B14F-4D97-AF65-F5344CB8AC3E}">
        <p14:creationId xmlns:p14="http://schemas.microsoft.com/office/powerpoint/2010/main" val="1450913076"/>
      </p:ext>
    </p:extLst>
  </p:cSld>
  <p:clrMapOvr>
    <a:masterClrMapping/>
  </p:clrMapOvr>
</p:sld>
</file>

<file path=ppt/theme/theme1.xml><?xml version="1.0" encoding="utf-8"?>
<a:theme xmlns:a="http://schemas.openxmlformats.org/drawingml/2006/main" name="MICROEJ Charter Theme 2019">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roEJ">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bg2"/>
          </a:solidFill>
        </a:ln>
      </a:spPr>
      <a:bodyPr rtlCol="0" anchor="ctr"/>
      <a:lstStyle>
        <a:defPPr algn="ctr">
          <a:defRPr sz="1400" dirty="0">
            <a:solidFill>
              <a:schemeClr val="tx2"/>
            </a:solidFill>
            <a:latin typeface="Source Sans Pro Light" panose="020B0403030403020204" pitchFamily="34" charset="77"/>
            <a:ea typeface="Source Sans Pro" panose="020B0503030403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MICROEJ Charter Theme 2019" id="{5A3AE017-F6B0-114C-ADCE-6BC49FC09C5A}" vid="{053F1CA5-4783-9745-8D7E-61B9093A8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157049</TotalTime>
  <Words>50</Words>
  <Application>Microsoft Office PowerPoint</Application>
  <PresentationFormat>Widescreen</PresentationFormat>
  <Paragraphs>27</Paragraphs>
  <Slides>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vt:i4>
      </vt:variant>
    </vt:vector>
  </HeadingPairs>
  <TitlesOfParts>
    <vt:vector size="13" baseType="lpstr">
      <vt:lpstr>Source Sans Pro SemiBold</vt:lpstr>
      <vt:lpstr>Source Sans Pro Black</vt:lpstr>
      <vt:lpstr>Arial</vt:lpstr>
      <vt:lpstr>Source Sans Pro ExtraLight</vt:lpstr>
      <vt:lpstr>Calibri Regular</vt:lpstr>
      <vt:lpstr>Calibri Light</vt:lpstr>
      <vt:lpstr>Source Sans Pro Light</vt:lpstr>
      <vt:lpstr>Courier New</vt:lpstr>
      <vt:lpstr>Source Sans Pro SemiBold</vt:lpstr>
      <vt:lpstr>Source Sans Pro</vt:lpstr>
      <vt:lpstr>MICROEJ Charter Theme 2019</vt:lpstr>
      <vt:lpstr>Framework diagrams</vt:lpstr>
      <vt:lpstr>High-level Architecture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Resources</dc:title>
  <dc:creator>Gaël Caratelli</dc:creator>
  <cp:lastModifiedBy>Clotilde Sattler</cp:lastModifiedBy>
  <cp:revision>964</cp:revision>
  <dcterms:created xsi:type="dcterms:W3CDTF">2017-01-10T13:21:08Z</dcterms:created>
  <dcterms:modified xsi:type="dcterms:W3CDTF">2025-09-16T15:05:21Z</dcterms:modified>
</cp:coreProperties>
</file>